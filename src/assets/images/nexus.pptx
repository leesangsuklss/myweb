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3" d="100"/>
          <a:sy n="83" d="100"/>
        </p:scale>
        <p:origin x="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2157F-CA35-5BDE-55D5-78786433D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A1928-3546-BEEF-9941-CD5EDA93B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0F55F-20AC-05BD-B66E-9C341177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65BE2-B18C-E2D5-3DE8-42529834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B36FF-B114-D203-F9B4-F4E2A766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89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41814-9DF9-0E4B-A331-74CAF328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7B69A-BE8C-AE46-0252-949C56983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25056-F408-1559-83AF-AF4B952D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93883-04C2-4F64-41FB-4F02FA5CE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5C98B-B797-ACB0-2FA7-A2966C936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6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08CB7-EB1A-9B7E-0D01-19EE2C080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1D6EE-1EE8-9897-5C72-0B599932B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98C02-B2D9-1E99-F91B-02C5ACF6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F3AD8-A29D-8CD0-A111-70215BFE0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B182B-F396-432D-1AB0-CD137AA2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6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D1E6-7933-2EDA-4950-A286D584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7ACEA-A2F4-7E05-2EB7-761EA1587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92D90-BDB6-81D3-5C2D-B1053BA94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466B1-A9B8-BCA7-DB68-66B3CD04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1DB5A-98FC-0CC8-B0F5-568F7B3A3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3EFAD-EC7A-F592-BBE7-F6A46FE1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4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E502-B48B-694F-B0EE-EB9A133F3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31803-E189-BB9E-A288-8EE77FA10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93E33-9834-325E-05E9-F39C1E41E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2BA89-2997-E36C-F3C7-2E1843F34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6CD5F9-2DCC-747B-0A46-232A17ABE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A10C68-7ACC-1517-18A4-5AD5A7F1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52DE1E-A5F5-1AA4-F70F-3E1B0AC73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24249C-93F7-F560-58A6-FEA09C295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7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2A58-2FED-A1D7-356B-B9C8E2AFE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39C33-2C88-8DC7-ADD2-DF9BB0F6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35880-3124-447C-0D87-25380F890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0BEE0-29F4-DE6A-0005-DD259910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69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A0E22-9A0C-3BE1-5102-3AFD64C8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3D11E2-007B-F408-1C14-4F3F0B228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76293-A198-396E-E2E2-824C6F47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0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72E3-4409-F0FD-232A-E6D942AA7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AE304-987D-3E0C-9A40-7A66405BA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1AF49-DCA4-C7DF-95CF-55EB64D27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B6681-4735-B1B0-6740-380D94E0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E0EFC-1C58-62DA-B694-3A47052D6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0845C-3506-B647-7F71-CE3A7CB0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93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9937-28FE-14F0-14FC-317C5B427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AB78B-2033-B0BE-C851-CDC3E89E0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DF4C5-2719-0499-C947-5E0BE70FF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C5441-5F8D-8098-338C-CB47227A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2188D-C6A4-AEF7-A7A7-7FD30FB5B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58B7C-918B-361A-6E8A-963588328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5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53471-7AB5-626D-9A62-3304B9E7E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92FDD-3447-7574-E4DD-73E9BB372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8C84C-1198-E931-4A9B-A39F1AEB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9FF59-FD47-4775-61BA-778551A8D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48864-94C3-E48C-7095-ADDE46FE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8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1EA90E-4F98-E6C0-DDAA-3E89107D1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C9749-704D-6A98-D982-D3176DE3E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1127A-0D6C-0A2B-5F3A-F1812B8E3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A4798-2F3C-14C4-6619-745DE6A6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84BB9-AEAD-9013-6543-04360009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2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37A801-4355-7E3F-1DAC-8A0E0EF77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F5E8C-1772-3424-92D2-4B529E906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5EA3C-7600-047A-3A65-79A2DEB11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247C1-0C06-4964-B084-DDD2395A57B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BC7BD-99DA-068A-C5F9-045D03F79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8F463-AA9A-2ACF-E462-726C177A8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A2B725-E674-455C-AF0F-EBE8793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4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0BD14C-8389-7421-1557-02A5088B6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6" b="6591"/>
          <a:stretch>
            <a:fillRect/>
          </a:stretch>
        </p:blipFill>
        <p:spPr>
          <a:xfrm>
            <a:off x="2981458" y="0"/>
            <a:ext cx="6543541" cy="6405966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E2211762-95E8-73AF-996D-80C679F080E4}"/>
              </a:ext>
            </a:extLst>
          </p:cNvPr>
          <p:cNvSpPr/>
          <p:nvPr/>
        </p:nvSpPr>
        <p:spPr>
          <a:xfrm rot="18900000">
            <a:off x="5369131" y="1117951"/>
            <a:ext cx="1851714" cy="1851714"/>
          </a:xfrm>
          <a:prstGeom prst="arc">
            <a:avLst/>
          </a:prstGeom>
          <a:noFill/>
          <a:ln w="63500">
            <a:solidFill>
              <a:schemeClr val="tx1"/>
            </a:solidFill>
            <a:headEnd type="triangle" w="lg" len="lg"/>
            <a:tailEnd type="triangle" w="lg" len="lg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B4617371-2C00-F7BB-0D34-3D423DD973F3}"/>
              </a:ext>
            </a:extLst>
          </p:cNvPr>
          <p:cNvSpPr/>
          <p:nvPr/>
        </p:nvSpPr>
        <p:spPr>
          <a:xfrm rot="4500000">
            <a:off x="6489068" y="3123865"/>
            <a:ext cx="1851714" cy="1851714"/>
          </a:xfrm>
          <a:prstGeom prst="arc">
            <a:avLst/>
          </a:prstGeom>
          <a:noFill/>
          <a:ln w="63500">
            <a:solidFill>
              <a:schemeClr val="tx1"/>
            </a:solidFill>
            <a:headEnd type="triangle" w="lg" len="lg"/>
            <a:tailEnd type="triangle" w="lg" len="lg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AB4162A2-3FCB-EB57-0C1F-F6EDB0B7D7E4}"/>
              </a:ext>
            </a:extLst>
          </p:cNvPr>
          <p:cNvSpPr/>
          <p:nvPr/>
        </p:nvSpPr>
        <p:spPr>
          <a:xfrm rot="11165984">
            <a:off x="3986743" y="3054178"/>
            <a:ext cx="1851714" cy="1851714"/>
          </a:xfrm>
          <a:prstGeom prst="arc">
            <a:avLst/>
          </a:prstGeom>
          <a:noFill/>
          <a:ln w="63500">
            <a:solidFill>
              <a:schemeClr val="tx1"/>
            </a:solidFill>
            <a:headEnd type="triangle" w="lg" len="lg"/>
            <a:tailEnd type="triangle" w="lg" len="lg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F2C2E7-3015-885F-749A-F6B32E5A5C22}"/>
              </a:ext>
            </a:extLst>
          </p:cNvPr>
          <p:cNvSpPr txBox="1"/>
          <p:nvPr/>
        </p:nvSpPr>
        <p:spPr>
          <a:xfrm>
            <a:off x="5257693" y="345448"/>
            <a:ext cx="2046586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Power generation </a:t>
            </a:r>
          </a:p>
          <a:p>
            <a:pPr algn="ctr"/>
            <a:r>
              <a:rPr lang="en-US" b="1" dirty="0"/>
              <a:t>requires water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B594C4-893C-537B-B93E-0DCA9D4D811B}"/>
              </a:ext>
            </a:extLst>
          </p:cNvPr>
          <p:cNvSpPr txBox="1"/>
          <p:nvPr/>
        </p:nvSpPr>
        <p:spPr>
          <a:xfrm>
            <a:off x="8213001" y="4219883"/>
            <a:ext cx="1282722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Server</a:t>
            </a:r>
          </a:p>
          <a:p>
            <a:pPr algn="ctr"/>
            <a:r>
              <a:rPr lang="en-US" b="1" dirty="0"/>
              <a:t>consumes</a:t>
            </a:r>
          </a:p>
          <a:p>
            <a:pPr algn="ctr"/>
            <a:r>
              <a:rPr lang="en-US" b="1" dirty="0"/>
              <a:t>electricity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7E214C-4506-8DCC-7FAE-3DCDD11C2F12}"/>
              </a:ext>
            </a:extLst>
          </p:cNvPr>
          <p:cNvSpPr txBox="1"/>
          <p:nvPr/>
        </p:nvSpPr>
        <p:spPr>
          <a:xfrm>
            <a:off x="2999020" y="4332267"/>
            <a:ext cx="116570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Cooling</a:t>
            </a:r>
          </a:p>
          <a:p>
            <a:pPr algn="ctr"/>
            <a:r>
              <a:rPr lang="en-US" b="1" dirty="0"/>
              <a:t>demands</a:t>
            </a:r>
          </a:p>
          <a:p>
            <a:pPr algn="ctr"/>
            <a:r>
              <a:rPr lang="en-US" b="1" dirty="0"/>
              <a:t>water</a:t>
            </a:r>
          </a:p>
        </p:txBody>
      </p:sp>
    </p:spTree>
    <p:extLst>
      <p:ext uri="{BB962C8B-B14F-4D97-AF65-F5344CB8AC3E}">
        <p14:creationId xmlns:p14="http://schemas.microsoft.com/office/powerpoint/2010/main" val="2952222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1E83B50-9B2C-376C-4BD2-8320E15BC6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3"/>
          <a:stretch>
            <a:fillRect/>
          </a:stretch>
        </p:blipFill>
        <p:spPr>
          <a:xfrm>
            <a:off x="2742910" y="225274"/>
            <a:ext cx="6666380" cy="64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09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B317FD5-86A8-F556-D0BE-CA7E8A65433D}"/>
              </a:ext>
            </a:extLst>
          </p:cNvPr>
          <p:cNvSpPr/>
          <p:nvPr/>
        </p:nvSpPr>
        <p:spPr>
          <a:xfrm rot="10800000">
            <a:off x="3348321" y="915356"/>
            <a:ext cx="5495358" cy="5495358"/>
          </a:xfrm>
          <a:prstGeom prst="ellipse">
            <a:avLst/>
          </a:prstGeom>
          <a:gradFill>
            <a:gsLst>
              <a:gs pos="0">
                <a:schemeClr val="accent3">
                  <a:satMod val="103000"/>
                  <a:lumMod val="102000"/>
                  <a:tint val="94000"/>
                  <a:alpha val="80000"/>
                </a:schemeClr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</a:gradFill>
          <a:effectLst>
            <a:glow rad="228600">
              <a:schemeClr val="accent6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3600000" lon="0" rev="0"/>
            </a:camera>
            <a:lightRig rig="threePt" dir="t"/>
          </a:scene3d>
          <a:sp3d extrusionH="114300">
            <a:extrusionClr>
              <a:schemeClr val="bg1">
                <a:lumMod val="50000"/>
              </a:schemeClr>
            </a:extrusion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0" name="Picture 6" descr="Drinking Water Icons - Free SVG &amp; PNG Drinking Water Images - Noun Project">
            <a:extLst>
              <a:ext uri="{FF2B5EF4-FFF2-40B4-BE49-F238E27FC236}">
                <a16:creationId xmlns:a16="http://schemas.microsoft.com/office/drawing/2014/main" id="{5922D169-D8EA-C0CB-B788-86B74A582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761" y="2017326"/>
            <a:ext cx="965990" cy="96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Factory, Industry, Plant, Power Plant, Real Estate, Smoke Icon | Icon PNG  Transparent Background, Free Download #1225 - FreeIconsPNG">
            <a:extLst>
              <a:ext uri="{FF2B5EF4-FFF2-40B4-BE49-F238E27FC236}">
                <a16:creationId xmlns:a16="http://schemas.microsoft.com/office/drawing/2014/main" id="{74D0849B-3D2D-8904-758D-E2603B277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661" y="2197429"/>
            <a:ext cx="825429" cy="82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ownload Free Data center Icons in PNG &amp; SVG">
            <a:extLst>
              <a:ext uri="{FF2B5EF4-FFF2-40B4-BE49-F238E27FC236}">
                <a16:creationId xmlns:a16="http://schemas.microsoft.com/office/drawing/2014/main" id="{D319B0E4-2DBF-7D4C-D68F-F1912F4EF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548" y="3761537"/>
            <a:ext cx="1541552" cy="154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eople Icon PNGs for Free Download">
            <a:extLst>
              <a:ext uri="{FF2B5EF4-FFF2-40B4-BE49-F238E27FC236}">
                <a16:creationId xmlns:a16="http://schemas.microsoft.com/office/drawing/2014/main" id="{131F8687-CB59-6E45-33BC-31AB2FE28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004" y="3130888"/>
            <a:ext cx="921410" cy="59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F799EFB6-BDDF-2706-7E5B-78ECC601F077}"/>
              </a:ext>
            </a:extLst>
          </p:cNvPr>
          <p:cNvSpPr/>
          <p:nvPr/>
        </p:nvSpPr>
        <p:spPr>
          <a:xfrm>
            <a:off x="5241772" y="2565263"/>
            <a:ext cx="1582514" cy="243888"/>
          </a:xfrm>
          <a:prstGeom prst="leftRightArrow">
            <a:avLst/>
          </a:prstGeom>
          <a:gradFill>
            <a:gsLst>
              <a:gs pos="0">
                <a:schemeClr val="bg2">
                  <a:lumMod val="90000"/>
                </a:schemeClr>
              </a:gs>
              <a:gs pos="50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3F184421-3B5C-D19F-0062-6DA64F65DAB1}"/>
              </a:ext>
            </a:extLst>
          </p:cNvPr>
          <p:cNvSpPr/>
          <p:nvPr/>
        </p:nvSpPr>
        <p:spPr>
          <a:xfrm rot="8291396">
            <a:off x="6644711" y="3451803"/>
            <a:ext cx="1280530" cy="408165"/>
          </a:xfrm>
          <a:prstGeom prst="leftRightArrow">
            <a:avLst/>
          </a:prstGeom>
          <a:gradFill>
            <a:gsLst>
              <a:gs pos="0">
                <a:schemeClr val="bg2">
                  <a:lumMod val="90000"/>
                </a:schemeClr>
              </a:gs>
              <a:gs pos="50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BB12D7C2-D26E-BB4B-F56E-1BD5AD4BDB63}"/>
              </a:ext>
            </a:extLst>
          </p:cNvPr>
          <p:cNvSpPr/>
          <p:nvPr/>
        </p:nvSpPr>
        <p:spPr>
          <a:xfrm rot="13820475">
            <a:off x="4248473" y="3438083"/>
            <a:ext cx="1280530" cy="429477"/>
          </a:xfrm>
          <a:prstGeom prst="leftRightArrow">
            <a:avLst/>
          </a:prstGeom>
          <a:gradFill>
            <a:gsLst>
              <a:gs pos="0">
                <a:schemeClr val="bg2">
                  <a:lumMod val="90000"/>
                </a:schemeClr>
              </a:gs>
              <a:gs pos="50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DBEB0-F0F9-1555-9F77-FEADDF655398}"/>
              </a:ext>
            </a:extLst>
          </p:cNvPr>
          <p:cNvSpPr txBox="1"/>
          <p:nvPr/>
        </p:nvSpPr>
        <p:spPr>
          <a:xfrm>
            <a:off x="7833570" y="2038656"/>
            <a:ext cx="1132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Energy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37862-50C7-1BA4-4D52-96E9474233C3}"/>
              </a:ext>
            </a:extLst>
          </p:cNvPr>
          <p:cNvSpPr txBox="1"/>
          <p:nvPr/>
        </p:nvSpPr>
        <p:spPr>
          <a:xfrm>
            <a:off x="3216612" y="2103598"/>
            <a:ext cx="1020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Water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9CD8EB-9A4D-497B-1885-CBD378DF1A1F}"/>
              </a:ext>
            </a:extLst>
          </p:cNvPr>
          <p:cNvSpPr txBox="1"/>
          <p:nvPr/>
        </p:nvSpPr>
        <p:spPr>
          <a:xfrm>
            <a:off x="5137781" y="5186013"/>
            <a:ext cx="1938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Data(center)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AAF2CB-C16E-67AA-D2C8-F173612B2E19}"/>
              </a:ext>
            </a:extLst>
          </p:cNvPr>
          <p:cNvSpPr txBox="1"/>
          <p:nvPr/>
        </p:nvSpPr>
        <p:spPr>
          <a:xfrm>
            <a:off x="7159044" y="3598686"/>
            <a:ext cx="14679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Server</a:t>
            </a:r>
          </a:p>
          <a:p>
            <a:pPr algn="ctr"/>
            <a:r>
              <a:rPr lang="en-US" sz="1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consumes</a:t>
            </a:r>
          </a:p>
          <a:p>
            <a:pPr algn="ctr"/>
            <a:r>
              <a:rPr lang="en-US" sz="1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electricity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146273-BDDF-6CA2-6366-C4B6C767B32A}"/>
              </a:ext>
            </a:extLst>
          </p:cNvPr>
          <p:cNvSpPr txBox="1"/>
          <p:nvPr/>
        </p:nvSpPr>
        <p:spPr>
          <a:xfrm>
            <a:off x="3720129" y="3648111"/>
            <a:ext cx="12264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Cooling demands water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A0143D-E8BA-E2F3-8618-FACE6018BC05}"/>
              </a:ext>
            </a:extLst>
          </p:cNvPr>
          <p:cNvSpPr txBox="1"/>
          <p:nvPr/>
        </p:nvSpPr>
        <p:spPr>
          <a:xfrm>
            <a:off x="5132460" y="2035875"/>
            <a:ext cx="1957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Power generation requires water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11DDED-A76D-1734-094F-6D555EAEF5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6379" y="5303089"/>
            <a:ext cx="6096528" cy="383471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0F8CCE-E28D-6A71-751E-D4D57F52C70C}"/>
              </a:ext>
            </a:extLst>
          </p:cNvPr>
          <p:cNvSpPr/>
          <p:nvPr/>
        </p:nvSpPr>
        <p:spPr>
          <a:xfrm>
            <a:off x="3204064" y="689958"/>
            <a:ext cx="5760000" cy="57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3452B-126F-F5ED-A58F-1566517CCF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8728" y="-938149"/>
            <a:ext cx="6096528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673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26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Sangsuk Lee</dc:creator>
  <cp:lastModifiedBy>Sangsuk Lee</cp:lastModifiedBy>
  <cp:revision>6</cp:revision>
  <dcterms:created xsi:type="dcterms:W3CDTF">2025-09-03T17:24:59Z</dcterms:created>
  <dcterms:modified xsi:type="dcterms:W3CDTF">2025-11-13T19:36:48Z</dcterms:modified>
</cp:coreProperties>
</file>